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latin typeface="Arial"/>
              </a:rPr>
              <a:t>QPSO raw cost vs classical PSO: % cheaper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PSO set A</c:v>
                </c:pt>
              </c:strCache>
            </c:strRef>
          </c:tx>
          <c:spPr>
            <a:solidFill>
              <a:srgbClr val="1F497D"/>
            </a:solidFill>
          </c:spPr>
          <c:cat>
            <c:strRef>
              <c:f>Sheet1!$A$2:$A$4</c:f>
              <c:strCache>
                <c:ptCount val="3"/>
                <c:pt idx="0">
                  <c:v>20 stops</c:v>
                </c:pt>
                <c:pt idx="1">
                  <c:v>30 stops</c:v>
                </c:pt>
                <c:pt idx="2">
                  <c:v>50 stops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19.1</c:v>
                </c:pt>
                <c:pt idx="1">
                  <c:v>25.5</c:v>
                </c:pt>
                <c:pt idx="2">
                  <c:v>17.4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PSO set B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Sheet1!$A$2:$A$4</c:f>
              <c:strCache>
                <c:ptCount val="3"/>
                <c:pt idx="0">
                  <c:v>20 stops</c:v>
                </c:pt>
                <c:pt idx="1">
                  <c:v>30 stops</c:v>
                </c:pt>
                <c:pt idx="2">
                  <c:v>50 stops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17.2</c:v>
                </c:pt>
                <c:pt idx="1">
                  <c:v>27.6</c:v>
                </c:pt>
                <c:pt idx="2">
                  <c:v>18.7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PSO set C</c:v>
                </c:pt>
              </c:strCache>
            </c:strRef>
          </c:tx>
          <c:spPr>
            <a:solidFill>
              <a:srgbClr val="8DB9E3"/>
            </a:solidFill>
          </c:spPr>
          <c:cat>
            <c:strRef>
              <c:f>Sheet1!$A$2:$A$4</c:f>
              <c:strCache>
                <c:ptCount val="3"/>
                <c:pt idx="0">
                  <c:v>20 stops</c:v>
                </c:pt>
                <c:pt idx="1">
                  <c:v>30 stops</c:v>
                </c:pt>
                <c:pt idx="2">
                  <c:v>50 stops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18.7</c:v>
                </c:pt>
                <c:pt idx="1">
                  <c:v>28.1</c:v>
                </c:pt>
                <c:pt idx="2">
                  <c:v>13.6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.0"/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  <c:majorUnit val="10.0"/>
      </c:valAx>
    </c:plotArea>
    <c:legend>
      <c:legendPos val="b"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hyperlink" Target="https://quantum-inspired-route-optimizer.onrender.com" TargetMode="External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240280"/>
            <a:ext cx="5760720" cy="3931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 marL="274320" indent="-27432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800" b="1" i="0" lang="en-IN">
                <a:solidFill>
                  <a:srgbClr val="222222"/>
                </a:solidFill>
                <a:latin typeface="Arial"/>
              </a:rPr>
              <a:t>Problem Statement ID – </a:t>
            </a:r>
            <a:r>
              <a:rPr sz="1800" b="0" i="0" lang="en-IN">
                <a:solidFill>
                  <a:srgbClr val="222222"/>
                </a:solidFill>
                <a:latin typeface="Arial"/>
              </a:rPr>
              <a:t>SIH26137</a:t>
            </a:r>
          </a:p>
          <a:p>
            <a:pPr algn="l" marL="274320" indent="-27432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800" b="1" i="0" lang="en-IN">
                <a:solidFill>
                  <a:srgbClr val="222222"/>
                </a:solidFill>
                <a:latin typeface="Arial"/>
              </a:rPr>
              <a:t>Problem Statement Title- </a:t>
            </a:r>
            <a:r>
              <a:rPr sz="1800" b="0" i="0" lang="en-IN">
                <a:solidFill>
                  <a:srgbClr val="222222"/>
                </a:solidFill>
                <a:latin typeface="Arial"/>
              </a:rPr>
              <a:t>Quantum-Inspired Intelligent Traffic Route Optimization in Transportation Systems Using Metaheuristic Optimization</a:t>
            </a:r>
          </a:p>
          <a:p>
            <a:pPr algn="l" marL="274320" indent="-27432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800" b="1" i="0" lang="en-IN">
                <a:solidFill>
                  <a:srgbClr val="222222"/>
                </a:solidFill>
                <a:latin typeface="Arial"/>
              </a:rPr>
              <a:t>Theme- </a:t>
            </a:r>
            <a:r>
              <a:rPr sz="1800" b="0" i="0" lang="en-IN">
                <a:solidFill>
                  <a:srgbClr val="222222"/>
                </a:solidFill>
                <a:latin typeface="Arial"/>
              </a:rPr>
              <a:t>Quantum Technology</a:t>
            </a:r>
          </a:p>
          <a:p>
            <a:pPr algn="l" marL="274320" indent="-27432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800" b="1" i="0" lang="en-IN">
                <a:solidFill>
                  <a:srgbClr val="222222"/>
                </a:solidFill>
                <a:latin typeface="Arial"/>
              </a:rPr>
              <a:t>PS Category- </a:t>
            </a:r>
            <a:r>
              <a:rPr sz="1800" b="0" i="0" lang="en-IN">
                <a:solidFill>
                  <a:srgbClr val="222222"/>
                </a:solidFill>
                <a:latin typeface="Arial"/>
              </a:rPr>
              <a:t>Software</a:t>
            </a:r>
          </a:p>
          <a:p>
            <a:pPr algn="l" marL="274320" indent="-27432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800" b="1" i="0" lang="en-IN">
                <a:solidFill>
                  <a:srgbClr val="222222"/>
                </a:solidFill>
                <a:latin typeface="Arial"/>
              </a:rPr>
              <a:t>Team ID- </a:t>
            </a:r>
            <a:r>
              <a:rPr sz="1800" b="0" i="0" lang="en-IN">
                <a:solidFill>
                  <a:srgbClr val="222222"/>
                </a:solidFill>
                <a:highlight>
                  <a:srgbClr val="FFFF00"/>
                </a:highlight>
                <a:latin typeface="Arial"/>
              </a:rPr>
              <a:t>[add your team ID]</a:t>
            </a:r>
          </a:p>
          <a:p>
            <a:pPr algn="l" marL="274320" indent="-27432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800" b="1" i="0" lang="en-IN">
                <a:solidFill>
                  <a:srgbClr val="222222"/>
                </a:solidFill>
                <a:latin typeface="Arial"/>
              </a:rPr>
              <a:t>Team Name (Registered on portal)- </a:t>
            </a:r>
            <a:r>
              <a:rPr sz="1800" b="0" i="0" lang="en-IN">
                <a:solidFill>
                  <a:srgbClr val="222222"/>
                </a:solidFill>
                <a:highlight>
                  <a:srgbClr val="FFFF00"/>
                </a:highlight>
                <a:latin typeface="Arial"/>
              </a:rPr>
              <a:t>[add your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QuantumRoute: Quantum-inspired route optimizer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Solution text"/>
          <p:cNvSpPr txBox="1"/>
          <p:nvPr/>
        </p:nvSpPr>
        <p:spPr>
          <a:xfrm>
            <a:off x="384048" y="1097280"/>
            <a:ext cx="6949440" cy="5166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 marL="274320" indent="-274320">
              <a:spcBef>
                <a:spcPts val="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sz="1400" b="1" i="0" u="sng" lang="en-IN">
                <a:solidFill>
                  <a:srgbClr val="1F497D"/>
                </a:solidFill>
                <a:latin typeface="Arial"/>
              </a:rPr>
              <a:t>Proposed Solution (Describe your Idea/Solution/Prototype)</a:t>
            </a:r>
          </a:p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200" b="1" i="0" lang="en-IN">
                <a:solidFill>
                  <a:srgbClr val="222222"/>
                </a:solidFill>
                <a:latin typeface="Arial"/>
              </a:rPr>
              <a:t>QuantumRoute </a:t>
            </a:r>
            <a:r>
              <a:rPr sz="1200" b="0" i="0" lang="en-IN">
                <a:solidFill>
                  <a:srgbClr val="222222"/>
                </a:solidFill>
                <a:latin typeface="Arial"/>
              </a:rPr>
              <a:t>is a working web app that plans delivery routes for several vans on real city roads, and re-plans when traffic or roads change.</a:t>
            </a:r>
          </a:p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200" b="0" i="0" lang="en-IN">
                <a:solidFill>
                  <a:srgbClr val="222222"/>
                </a:solidFill>
                <a:latin typeface="Arial"/>
              </a:rPr>
              <a:t>Solver: QPSO, a quantum-inspired swarm method that runs on an ordinary computer.</a:t>
            </a:r>
          </a:p>
          <a:p>
            <a:pPr algn="l" marL="274320" indent="-274320">
              <a:spcBef>
                <a:spcPts val="80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sz="1400" b="1" i="0" u="sng" lang="en-IN">
                <a:solidFill>
                  <a:srgbClr val="1F497D"/>
                </a:solidFill>
                <a:latin typeface="Arial"/>
              </a:rPr>
              <a:t>Detailed explanation of the proposed solution</a:t>
            </a:r>
          </a:p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200" b="1" i="0" lang="en-IN">
                <a:solidFill>
                  <a:srgbClr val="222222"/>
                </a:solidFill>
                <a:latin typeface="Arial"/>
              </a:rPr>
              <a:t>Pick a place: </a:t>
            </a:r>
            <a:r>
              <a:rPr sz="1200" b="0" i="0" lang="en-IN">
                <a:solidFill>
                  <a:srgbClr val="222222"/>
                </a:solidFill>
                <a:latin typeface="Arial"/>
              </a:rPr>
              <a:t>four ready-made Indian cities, any place on OpenStreetMap, or a synthetic city.</a:t>
            </a:r>
          </a:p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200" b="1" i="0" lang="en-IN">
                <a:solidFill>
                  <a:srgbClr val="222222"/>
                </a:solidFill>
                <a:latin typeface="Arial"/>
              </a:rPr>
              <a:t>Add a depot, stops and vans, then set the traffic: </a:t>
            </a:r>
            <a:r>
              <a:rPr sz="1200" b="0" i="0" lang="en-IN">
                <a:solidFill>
                  <a:srgbClr val="222222"/>
                </a:solidFill>
                <a:latin typeface="Arial"/>
              </a:rPr>
              <a:t>live or recorded TomTom, simulated rush hour, or close a road.</a:t>
            </a:r>
          </a:p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200" b="1" i="0" lang="en-IN">
                <a:solidFill>
                  <a:srgbClr val="222222"/>
                </a:solidFill>
                <a:latin typeface="Arial"/>
              </a:rPr>
              <a:t>Optimize: </a:t>
            </a:r>
            <a:r>
              <a:rPr sz="1200" b="0" i="0" lang="en-IN">
                <a:solidFill>
                  <a:srgbClr val="222222"/>
                </a:solidFill>
                <a:latin typeface="Arial"/>
              </a:rPr>
              <a:t>routes on the map, load, time and delay per van, a convergence curve and a benchmark against other algorithms.</a:t>
            </a:r>
          </a:p>
          <a:p>
            <a:pPr algn="l" marL="274320" indent="-274320">
              <a:spcBef>
                <a:spcPts val="80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sz="1400" b="1" i="0" u="sng" lang="en-IN">
                <a:solidFill>
                  <a:srgbClr val="1F497D"/>
                </a:solidFill>
                <a:latin typeface="Arial"/>
              </a:rPr>
              <a:t>How it addresses the problem</a:t>
            </a:r>
          </a:p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200" b="1" i="0" lang="en-IN">
                <a:solidFill>
                  <a:srgbClr val="222222"/>
                </a:solidFill>
                <a:latin typeface="Arial"/>
              </a:rPr>
              <a:t>Objective 1: </a:t>
            </a:r>
            <a:r>
              <a:rPr sz="1200" b="0" i="0" lang="en-IN">
                <a:solidFill>
                  <a:srgbClr val="222222"/>
                </a:solidFill>
                <a:latin typeface="Arial"/>
              </a:rPr>
              <a:t>multi-van routing with capacity, plus A-to-B shortest path (exact Dijkstra next to QPSO, PSO and GA).</a:t>
            </a:r>
          </a:p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200" b="1" i="0" lang="en-IN">
                <a:solidFill>
                  <a:srgbClr val="222222"/>
                </a:solidFill>
                <a:latin typeface="Arial"/>
              </a:rPr>
              <a:t>Objective 2: </a:t>
            </a:r>
            <a:r>
              <a:rPr sz="1200" b="0" i="0" lang="en-IN">
                <a:solidFill>
                  <a:srgbClr val="222222"/>
                </a:solidFill>
                <a:latin typeface="Arial"/>
              </a:rPr>
              <a:t>time, distance and congestion weights, with one-click presets.</a:t>
            </a:r>
          </a:p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200" b="1" i="0" lang="en-IN">
                <a:solidFill>
                  <a:srgbClr val="222222"/>
                </a:solidFill>
                <a:latin typeface="Arial"/>
              </a:rPr>
              <a:t>Objectives 3 and 4: </a:t>
            </a:r>
            <a:r>
              <a:rPr sz="1200" b="0" i="0" lang="en-IN">
                <a:solidFill>
                  <a:srgbClr val="222222"/>
                </a:solidFill>
                <a:latin typeface="Arial"/>
              </a:rPr>
              <a:t>compared with PSO, a genetic algorithm, OR-Tools and exact optima; up to 150 stops in the app.</a:t>
            </a:r>
          </a:p>
          <a:p>
            <a:pPr algn="l" marL="274320" indent="-274320">
              <a:spcBef>
                <a:spcPts val="80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sz="1400" b="1" i="0" u="sng" lang="en-IN">
                <a:solidFill>
                  <a:srgbClr val="1F497D"/>
                </a:solidFill>
                <a:latin typeface="Arial"/>
              </a:rPr>
              <a:t>Innovation and uniqueness of the solution</a:t>
            </a:r>
          </a:p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200" b="1" i="0" lang="en-IN">
                <a:solidFill>
                  <a:srgbClr val="222222"/>
                </a:solidFill>
                <a:latin typeface="Arial"/>
              </a:rPr>
              <a:t>Real traffic in the loop, </a:t>
            </a:r>
            <a:r>
              <a:rPr sz="1200" b="0" i="0" lang="en-IN">
                <a:solidFill>
                  <a:srgbClr val="222222"/>
                </a:solidFill>
                <a:latin typeface="Arial"/>
              </a:rPr>
              <a:t>every reading labelled LIVE, RECORDED or SIMULATED.</a:t>
            </a:r>
          </a:p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200" b="1" i="0" lang="en-IN">
                <a:solidFill>
                  <a:srgbClr val="222222"/>
                </a:solidFill>
                <a:latin typeface="Arial"/>
              </a:rPr>
              <a:t>What-if roads: </a:t>
            </a:r>
            <a:r>
              <a:rPr sz="1200" b="0" i="0" lang="en-IN">
                <a:solidFill>
                  <a:srgbClr val="222222"/>
                </a:solidFill>
                <a:latin typeface="Arial"/>
              </a:rPr>
              <a:t>click a road to close it and every solver plans around it.</a:t>
            </a:r>
          </a:p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200" b="1" i="0" lang="en-IN">
                <a:solidFill>
                  <a:srgbClr val="222222"/>
                </a:solidFill>
                <a:latin typeface="Arial"/>
              </a:rPr>
              <a:t>A tuned QPSO: </a:t>
            </a:r>
            <a:r>
              <a:rPr sz="1200" b="0" i="0" lang="en-IN">
                <a:solidFill>
                  <a:srgbClr val="222222"/>
                </a:solidFill>
                <a:latin typeface="Arial"/>
              </a:rPr>
              <a:t>step size scaled to problem size, a warm start, and a polish that moves stops between vans.</a:t>
            </a:r>
          </a:p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200" b="1" i="0" lang="en-IN">
                <a:solidFill>
                  <a:srgbClr val="222222"/>
                </a:solidFill>
                <a:latin typeface="Arial"/>
              </a:rPr>
              <a:t>Backed by results: </a:t>
            </a:r>
            <a:r>
              <a:rPr sz="1200" b="0" i="0" lang="en-IN">
                <a:solidFill>
                  <a:srgbClr val="222222"/>
                </a:solidFill>
                <a:latin typeface="Arial"/>
              </a:rPr>
              <a:t>exact optima, proven benchmark instances and 20 written findings.</a:t>
            </a:r>
          </a:p>
        </p:txBody>
      </p:sp>
      <p:pic>
        <p:nvPicPr>
          <p:cNvPr id="15363" name="Screenshot overview" descr="Screenshot of QuantumRoute on MG Road, Bengaluru: coloured van routes on the map, recorded TomTom traffic badge, route plan table and convergence curv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188720"/>
            <a:ext cx="4206240" cy="2628900"/>
          </a:xfrm>
          <a:prstGeom prst="rect">
            <a:avLst/>
          </a:prstGeom>
        </p:spPr>
      </p:pic>
      <p:sp>
        <p:nvSpPr>
          <p:cNvPr id="15364" name="Screenshot caption"/>
          <p:cNvSpPr txBox="1"/>
          <p:nvPr/>
        </p:nvSpPr>
        <p:spPr>
          <a:xfrm>
            <a:off x="7589520" y="3854196"/>
            <a:ext cx="420624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950" b="0" i="0" lang="en-IN">
                <a:solidFill>
                  <a:srgbClr val="595959"/>
                </a:solidFill>
                <a:latin typeface="Arial"/>
              </a:rPr>
              <a:t>MG Road, Bengaluru, recorded TomTom traffic, 15 stops, 3 vans. Route colours are vans and red roads are jammed.</a:t>
            </a:r>
          </a:p>
        </p:txBody>
      </p:sp>
      <p:sp>
        <p:nvSpPr>
          <p:cNvPr id="15365" name="Key number 1"/>
          <p:cNvSpPr/>
          <p:nvPr/>
        </p:nvSpPr>
        <p:spPr>
          <a:xfrm>
            <a:off x="7589520" y="4443984"/>
            <a:ext cx="4206240" cy="585216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Key figure 1"/>
          <p:cNvSpPr txBox="1"/>
          <p:nvPr/>
        </p:nvSpPr>
        <p:spPr>
          <a:xfrm>
            <a:off x="7635240" y="4443984"/>
            <a:ext cx="1417320" cy="585216"/>
          </a:xfrm>
          <a:prstGeom prst="rect">
            <a:avLst/>
          </a:prstGeom>
          <a:noFill/>
        </p:spPr>
        <p:txBody>
          <a:bodyPr wrap="square" lIns="54864" tIns="18288" rIns="18288" bIns="18288" anchor="ctr">
            <a:noAutofit/>
          </a:bodyPr>
          <a:lstStyle/>
          <a:p>
            <a:pPr algn="l">
              <a:buNone/>
            </a:pPr>
            <a:r>
              <a:rPr sz="1700" b="1" i="0" lang="en-IN">
                <a:solidFill>
                  <a:srgbClr val="0070C0"/>
                </a:solidFill>
                <a:latin typeface="Arial"/>
              </a:rPr>
              <a:t>13.6-28.1%</a:t>
            </a:r>
          </a:p>
        </p:txBody>
      </p:sp>
      <p:sp>
        <p:nvSpPr>
          <p:cNvPr id="15367" name="Key figure 1 text"/>
          <p:cNvSpPr txBox="1"/>
          <p:nvPr/>
        </p:nvSpPr>
        <p:spPr>
          <a:xfrm>
            <a:off x="9052560" y="4443984"/>
            <a:ext cx="2697480" cy="585216"/>
          </a:xfrm>
          <a:prstGeom prst="rect">
            <a:avLst/>
          </a:prstGeom>
          <a:noFill/>
        </p:spPr>
        <p:txBody>
          <a:bodyPr wrap="square" lIns="36576" tIns="18288" rIns="54864" bIns="18288" anchor="ctr">
            <a:noAutofit/>
          </a:bodyPr>
          <a:lstStyle/>
          <a:p>
            <a:pPr algn="l">
              <a:lnSpc>
                <a:spcPct val="97000"/>
              </a:lnSpc>
              <a:buNone/>
            </a:pPr>
            <a:r>
              <a:rPr sz="950" b="0" i="0" lang="en-IN">
                <a:solidFill>
                  <a:srgbClr val="222222"/>
                </a:solidFill>
                <a:latin typeface="Arial"/>
              </a:rPr>
              <a:t>cheaper routes than classical PSO (QPSO raw output, 20 to 50 stops, 9 settings)</a:t>
            </a:r>
          </a:p>
        </p:txBody>
      </p:sp>
      <p:sp>
        <p:nvSpPr>
          <p:cNvPr id="15368" name="Key number 2"/>
          <p:cNvSpPr/>
          <p:nvPr/>
        </p:nvSpPr>
        <p:spPr>
          <a:xfrm>
            <a:off x="7589520" y="5084064"/>
            <a:ext cx="4206240" cy="585216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Key figure 2"/>
          <p:cNvSpPr txBox="1"/>
          <p:nvPr/>
        </p:nvSpPr>
        <p:spPr>
          <a:xfrm>
            <a:off x="7635240" y="5084064"/>
            <a:ext cx="1417320" cy="585216"/>
          </a:xfrm>
          <a:prstGeom prst="rect">
            <a:avLst/>
          </a:prstGeom>
          <a:noFill/>
        </p:spPr>
        <p:txBody>
          <a:bodyPr wrap="square" lIns="54864" tIns="18288" rIns="18288" bIns="18288" anchor="ctr">
            <a:noAutofit/>
          </a:bodyPr>
          <a:lstStyle/>
          <a:p>
            <a:pPr algn="l">
              <a:buNone/>
            </a:pPr>
            <a:r>
              <a:rPr sz="1700" b="1" i="0" lang="en-IN">
                <a:solidFill>
                  <a:srgbClr val="0070C0"/>
                </a:solidFill>
                <a:latin typeface="Arial"/>
              </a:rPr>
              <a:t>1.5%</a:t>
            </a:r>
          </a:p>
        </p:txBody>
      </p:sp>
      <p:sp>
        <p:nvSpPr>
          <p:cNvPr id="15370" name="Key figure 2 text"/>
          <p:cNvSpPr txBox="1"/>
          <p:nvPr/>
        </p:nvSpPr>
        <p:spPr>
          <a:xfrm>
            <a:off x="9052560" y="5084064"/>
            <a:ext cx="2697480" cy="585216"/>
          </a:xfrm>
          <a:prstGeom prst="rect">
            <a:avLst/>
          </a:prstGeom>
          <a:noFill/>
        </p:spPr>
        <p:txBody>
          <a:bodyPr wrap="square" lIns="36576" tIns="18288" rIns="54864" bIns="18288" anchor="ctr">
            <a:noAutofit/>
          </a:bodyPr>
          <a:lstStyle/>
          <a:p>
            <a:pPr algn="l">
              <a:lnSpc>
                <a:spcPct val="97000"/>
              </a:lnSpc>
              <a:buNone/>
            </a:pPr>
            <a:r>
              <a:rPr sz="950" b="0" i="0" lang="en-IN">
                <a:solidFill>
                  <a:srgbClr val="222222"/>
                </a:solidFill>
                <a:latin typeface="Arial"/>
              </a:rPr>
              <a:t>above the proven optimum after 2 min (route search option, 22 standard instances)</a:t>
            </a:r>
          </a:p>
        </p:txBody>
      </p:sp>
      <p:sp>
        <p:nvSpPr>
          <p:cNvPr id="15371" name="Key number 3"/>
          <p:cNvSpPr/>
          <p:nvPr/>
        </p:nvSpPr>
        <p:spPr>
          <a:xfrm>
            <a:off x="7589520" y="5724144"/>
            <a:ext cx="4206240" cy="585216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Key figure 3"/>
          <p:cNvSpPr txBox="1"/>
          <p:nvPr/>
        </p:nvSpPr>
        <p:spPr>
          <a:xfrm>
            <a:off x="7635240" y="5724144"/>
            <a:ext cx="1417320" cy="585216"/>
          </a:xfrm>
          <a:prstGeom prst="rect">
            <a:avLst/>
          </a:prstGeom>
          <a:noFill/>
        </p:spPr>
        <p:txBody>
          <a:bodyPr wrap="square" lIns="54864" tIns="18288" rIns="18288" bIns="18288" anchor="ctr">
            <a:noAutofit/>
          </a:bodyPr>
          <a:lstStyle/>
          <a:p>
            <a:pPr algn="l">
              <a:buNone/>
            </a:pPr>
            <a:r>
              <a:rPr sz="1700" b="1" i="0" lang="en-IN">
                <a:solidFill>
                  <a:srgbClr val="0070C0"/>
                </a:solidFill>
                <a:latin typeface="Arial"/>
              </a:rPr>
              <a:t>150 of 150</a:t>
            </a:r>
          </a:p>
        </p:txBody>
      </p:sp>
      <p:sp>
        <p:nvSpPr>
          <p:cNvPr id="15373" name="Key figure 3 text"/>
          <p:cNvSpPr txBox="1"/>
          <p:nvPr/>
        </p:nvSpPr>
        <p:spPr>
          <a:xfrm>
            <a:off x="9052560" y="5724144"/>
            <a:ext cx="2697480" cy="585216"/>
          </a:xfrm>
          <a:prstGeom prst="rect">
            <a:avLst/>
          </a:prstGeom>
          <a:noFill/>
        </p:spPr>
        <p:txBody>
          <a:bodyPr wrap="square" lIns="36576" tIns="18288" rIns="54864" bIns="18288" anchor="ctr">
            <a:noAutofit/>
          </a:bodyPr>
          <a:lstStyle/>
          <a:p>
            <a:pPr algn="l">
              <a:lnSpc>
                <a:spcPct val="97000"/>
              </a:lnSpc>
              <a:buNone/>
            </a:pPr>
            <a:r>
              <a:rPr sz="950" b="0" i="0" lang="en-IN">
                <a:solidFill>
                  <a:srgbClr val="222222"/>
                </a:solidFill>
                <a:latin typeface="Arial"/>
              </a:rPr>
              <a:t>small problems solved to the exact optimum (route search option)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chnologies heading"/>
          <p:cNvSpPr txBox="1"/>
          <p:nvPr/>
        </p:nvSpPr>
        <p:spPr>
          <a:xfrm>
            <a:off x="384048" y="1097280"/>
            <a:ext cx="39319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 marL="274320" indent="-274320">
              <a:spcBef>
                <a:spcPts val="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sz="1300" b="1" i="0" u="sng" lang="en-IN">
                <a:solidFill>
                  <a:srgbClr val="1F497D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graphicFrame>
        <p:nvGraphicFramePr>
          <p:cNvPr id="17411" name="Technology table"/>
          <p:cNvGraphicFramePr>
            <a:graphicFrameLocks noGrp="1"/>
          </p:cNvGraphicFramePr>
          <p:nvPr/>
        </p:nvGraphicFramePr>
        <p:xfrm>
          <a:off x="411480" y="1828800"/>
          <a:ext cx="3931920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2697480"/>
              </a:tblGrid>
              <a:tr h="457200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1" i="0" lang="en-IN">
                          <a:solidFill>
                            <a:srgbClr val="1F497D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Python 3.11, FastAPI, NumPy, NetworkX, OSMnx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1" i="0" lang="en-IN">
                          <a:solidFill>
                            <a:srgbClr val="1F497D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React 18, TypeScript, Vite, Leaflet map, Recharts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1" i="0" lang="en-IN">
                          <a:solidFill>
                            <a:srgbClr val="1F497D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OpenStreetMap roads, TomTom Traffic Flow API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1" i="0" lang="en-IN">
                          <a:solidFill>
                            <a:srgbClr val="1F497D"/>
                          </a:solidFill>
                          <a:latin typeface="Arial"/>
                        </a:rPr>
                        <a:t>Reference solvers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Google OR-Tools, exact dynamic programming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1" i="0" lang="en-IN">
                          <a:solidFill>
                            <a:srgbClr val="1F497D"/>
                          </a:solidFill>
                          <a:latin typeface="Arial"/>
                        </a:rPr>
                        <a:t>Packaging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Docker (one command), REST API with OpenAPI docs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1" i="0" lang="en-IN">
                          <a:solidFill>
                            <a:srgbClr val="1F497D"/>
                          </a:solidFill>
                          <a:latin typeface="Arial"/>
                        </a:rPr>
                        <a:t>Hosting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Render, free tier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1" i="0" lang="en-IN">
                          <a:solidFill>
                            <a:srgbClr val="1F497D"/>
                          </a:solidFill>
                          <a:latin typeface="Arial"/>
                        </a:rPr>
                        <a:t>Testing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431 automated tests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1" i="0" lang="en-IN">
                          <a:solidFill>
                            <a:srgbClr val="1F497D"/>
                          </a:solidFill>
                          <a:latin typeface="Arial"/>
                        </a:rPr>
                        <a:t>Hardware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Any laptop CPU. No GPU or quantum device.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412" name="Methodology heading"/>
          <p:cNvSpPr txBox="1"/>
          <p:nvPr/>
        </p:nvSpPr>
        <p:spPr>
          <a:xfrm>
            <a:off x="4572000" y="1097280"/>
            <a:ext cx="722376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 marL="274320" indent="-274320">
              <a:spcBef>
                <a:spcPts val="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sz="1300" b="1" i="0" u="sng" lang="en-IN">
                <a:solidFill>
                  <a:srgbClr val="1F497D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13" name="Flow step 1"/>
          <p:cNvSpPr/>
          <p:nvPr/>
        </p:nvSpPr>
        <p:spPr>
          <a:xfrm>
            <a:off x="4617720" y="1783080"/>
            <a:ext cx="71780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4" name="Icon map" descr="map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901952"/>
            <a:ext cx="310896" cy="310896"/>
          </a:xfrm>
          <a:prstGeom prst="rect">
            <a:avLst/>
          </a:prstGeom>
        </p:spPr>
      </p:pic>
      <p:sp>
        <p:nvSpPr>
          <p:cNvPr id="17415" name="Step 1 title"/>
          <p:cNvSpPr txBox="1"/>
          <p:nvPr/>
        </p:nvSpPr>
        <p:spPr>
          <a:xfrm>
            <a:off x="5074920" y="1783080"/>
            <a:ext cx="1828800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buNone/>
            </a:pPr>
            <a:r>
              <a:rPr sz="1200" b="1" i="0" lang="en-IN">
                <a:solidFill>
                  <a:srgbClr val="1F497D"/>
                </a:solidFill>
                <a:latin typeface="Arial"/>
              </a:rPr>
              <a:t>1  Road network</a:t>
            </a:r>
          </a:p>
        </p:txBody>
      </p:sp>
      <p:sp>
        <p:nvSpPr>
          <p:cNvPr id="17416" name="Step 1 text"/>
          <p:cNvSpPr txBox="1"/>
          <p:nvPr/>
        </p:nvSpPr>
        <p:spPr>
          <a:xfrm>
            <a:off x="6858000" y="1783080"/>
            <a:ext cx="4892040" cy="512064"/>
          </a:xfrm>
          <a:prstGeom prst="rect">
            <a:avLst/>
          </a:prstGeom>
          <a:noFill/>
        </p:spPr>
        <p:txBody>
          <a:bodyPr wrap="square" lIns="36576" tIns="18288" rIns="54864" bIns="18288" anchor="ctr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1050" b="0" i="0" lang="en-IN">
                <a:solidFill>
                  <a:srgbClr val="222222"/>
                </a:solidFill>
                <a:latin typeface="Arial"/>
              </a:rPr>
              <a:t>OpenStreetMap (4 Indian cities or any place) or a synthetic city, as a weighted directed graph: intersections are nodes, roads are arcs.</a:t>
            </a:r>
          </a:p>
        </p:txBody>
      </p:sp>
      <p:cxnSp>
        <p:nvCxnSpPr>
          <p:cNvPr id="17417" name="Arrow 1"/>
          <p:cNvCxnSpPr/>
          <p:nvPr/>
        </p:nvCxnSpPr>
        <p:spPr>
          <a:xfrm>
            <a:off x="5486400" y="2295144"/>
            <a:ext cx="0" cy="118871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Flow step 2"/>
          <p:cNvSpPr/>
          <p:nvPr/>
        </p:nvSpPr>
        <p:spPr>
          <a:xfrm>
            <a:off x="4617720" y="2414016"/>
            <a:ext cx="71780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9" name="Icon car" descr="ca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532888"/>
            <a:ext cx="310896" cy="310896"/>
          </a:xfrm>
          <a:prstGeom prst="rect">
            <a:avLst/>
          </a:prstGeom>
        </p:spPr>
      </p:pic>
      <p:sp>
        <p:nvSpPr>
          <p:cNvPr id="17420" name="Step 2 title"/>
          <p:cNvSpPr txBox="1"/>
          <p:nvPr/>
        </p:nvSpPr>
        <p:spPr>
          <a:xfrm>
            <a:off x="5074920" y="2414016"/>
            <a:ext cx="1828800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buNone/>
            </a:pPr>
            <a:r>
              <a:rPr sz="1200" b="1" i="0" lang="en-IN">
                <a:solidFill>
                  <a:srgbClr val="1F497D"/>
                </a:solidFill>
                <a:latin typeface="Arial"/>
              </a:rPr>
              <a:t>2  Traffic layer</a:t>
            </a:r>
          </a:p>
        </p:txBody>
      </p:sp>
      <p:sp>
        <p:nvSpPr>
          <p:cNvPr id="17421" name="Step 2 text"/>
          <p:cNvSpPr txBox="1"/>
          <p:nvPr/>
        </p:nvSpPr>
        <p:spPr>
          <a:xfrm>
            <a:off x="6858000" y="2414016"/>
            <a:ext cx="4892040" cy="512064"/>
          </a:xfrm>
          <a:prstGeom prst="rect">
            <a:avLst/>
          </a:prstGeom>
          <a:noFill/>
        </p:spPr>
        <p:txBody>
          <a:bodyPr wrap="square" lIns="36576" tIns="18288" rIns="54864" bIns="18288" anchor="ctr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1050" b="0" i="0" lang="en-IN">
                <a:solidFill>
                  <a:srgbClr val="222222"/>
                </a:solidFill>
                <a:latin typeface="Arial"/>
              </a:rPr>
              <a:t>Live or recorded TomTom readings, simulated random or rush hour, and closed roads change the arc weights.</a:t>
            </a:r>
          </a:p>
        </p:txBody>
      </p:sp>
      <p:cxnSp>
        <p:nvCxnSpPr>
          <p:cNvPr id="17422" name="Arrow 2"/>
          <p:cNvCxnSpPr/>
          <p:nvPr/>
        </p:nvCxnSpPr>
        <p:spPr>
          <a:xfrm>
            <a:off x="5486400" y="2926080"/>
            <a:ext cx="0" cy="118872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Flow step 3"/>
          <p:cNvSpPr/>
          <p:nvPr/>
        </p:nvSpPr>
        <p:spPr>
          <a:xfrm>
            <a:off x="4617720" y="3044952"/>
            <a:ext cx="71780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4" name="Icon sliders-horizontal" descr="sliders-horizontal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163824"/>
            <a:ext cx="310896" cy="310896"/>
          </a:xfrm>
          <a:prstGeom prst="rect">
            <a:avLst/>
          </a:prstGeom>
        </p:spPr>
      </p:pic>
      <p:sp>
        <p:nvSpPr>
          <p:cNvPr id="17425" name="Step 3 title"/>
          <p:cNvSpPr txBox="1"/>
          <p:nvPr/>
        </p:nvSpPr>
        <p:spPr>
          <a:xfrm>
            <a:off x="5074920" y="3044952"/>
            <a:ext cx="1828800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buNone/>
            </a:pPr>
            <a:r>
              <a:rPr sz="1200" b="1" i="0" lang="en-IN">
                <a:solidFill>
                  <a:srgbClr val="1F497D"/>
                </a:solidFill>
                <a:latin typeface="Arial"/>
              </a:rPr>
              <a:t>3  Delivery problem</a:t>
            </a:r>
          </a:p>
        </p:txBody>
      </p:sp>
      <p:sp>
        <p:nvSpPr>
          <p:cNvPr id="17426" name="Step 3 text"/>
          <p:cNvSpPr txBox="1"/>
          <p:nvPr/>
        </p:nvSpPr>
        <p:spPr>
          <a:xfrm>
            <a:off x="6858000" y="3044952"/>
            <a:ext cx="4892040" cy="512064"/>
          </a:xfrm>
          <a:prstGeom prst="rect">
            <a:avLst/>
          </a:prstGeom>
          <a:noFill/>
        </p:spPr>
        <p:txBody>
          <a:bodyPr wrap="square" lIns="36576" tIns="18288" rIns="54864" bIns="18288" anchor="ctr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1050" b="0" i="0" lang="en-IN">
                <a:solidFill>
                  <a:srgbClr val="222222"/>
                </a:solidFill>
                <a:latin typeface="Arial"/>
              </a:rPr>
              <a:t>Depot, up to 150 stops, vans, capacity, time windows, and what to minimize: time, distance, congestion or a mix.</a:t>
            </a:r>
          </a:p>
        </p:txBody>
      </p:sp>
      <p:cxnSp>
        <p:nvCxnSpPr>
          <p:cNvPr id="17427" name="Arrow 3"/>
          <p:cNvCxnSpPr/>
          <p:nvPr/>
        </p:nvCxnSpPr>
        <p:spPr>
          <a:xfrm>
            <a:off x="5486400" y="3557016"/>
            <a:ext cx="0" cy="118872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Flow step 4"/>
          <p:cNvSpPr/>
          <p:nvPr/>
        </p:nvSpPr>
        <p:spPr>
          <a:xfrm>
            <a:off x="4617720" y="3675888"/>
            <a:ext cx="71780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9" name="Icon cpu" descr="cpu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794760"/>
            <a:ext cx="310896" cy="310896"/>
          </a:xfrm>
          <a:prstGeom prst="rect">
            <a:avLst/>
          </a:prstGeom>
        </p:spPr>
      </p:pic>
      <p:sp>
        <p:nvSpPr>
          <p:cNvPr id="17430" name="Step 4 title"/>
          <p:cNvSpPr txBox="1"/>
          <p:nvPr/>
        </p:nvSpPr>
        <p:spPr>
          <a:xfrm>
            <a:off x="5074920" y="3675888"/>
            <a:ext cx="1828800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buNone/>
            </a:pPr>
            <a:r>
              <a:rPr sz="1200" b="1" i="0" lang="en-IN">
                <a:solidFill>
                  <a:srgbClr val="1F497D"/>
                </a:solidFill>
                <a:latin typeface="Arial"/>
              </a:rPr>
              <a:t>4  Solver</a:t>
            </a:r>
          </a:p>
        </p:txBody>
      </p:sp>
      <p:sp>
        <p:nvSpPr>
          <p:cNvPr id="17431" name="Step 4 text"/>
          <p:cNvSpPr txBox="1"/>
          <p:nvPr/>
        </p:nvSpPr>
        <p:spPr>
          <a:xfrm>
            <a:off x="6858000" y="3675888"/>
            <a:ext cx="4892040" cy="512064"/>
          </a:xfrm>
          <a:prstGeom prst="rect">
            <a:avLst/>
          </a:prstGeom>
          <a:noFill/>
        </p:spPr>
        <p:txBody>
          <a:bodyPr wrap="square" lIns="36576" tIns="18288" rIns="54864" bIns="18288" anchor="ctr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1050" b="0" i="0" lang="en-IN">
                <a:solidFill>
                  <a:srgbClr val="222222"/>
                </a:solidFill>
                <a:latin typeface="Arial"/>
              </a:rPr>
              <a:t>QPSO with a warm start, then a polish. Alternatives: PSO, genetic algorithm, nearest neighbour, route search.</a:t>
            </a:r>
          </a:p>
        </p:txBody>
      </p:sp>
      <p:cxnSp>
        <p:nvCxnSpPr>
          <p:cNvPr id="17432" name="Arrow 4"/>
          <p:cNvCxnSpPr/>
          <p:nvPr/>
        </p:nvCxnSpPr>
        <p:spPr>
          <a:xfrm>
            <a:off x="5486400" y="4187952"/>
            <a:ext cx="0" cy="118872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Flow step 5"/>
          <p:cNvSpPr/>
          <p:nvPr/>
        </p:nvSpPr>
        <p:spPr>
          <a:xfrm>
            <a:off x="4617720" y="4306824"/>
            <a:ext cx="71780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4" name="Icon chart-column" descr="chart-column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4425696"/>
            <a:ext cx="310896" cy="310896"/>
          </a:xfrm>
          <a:prstGeom prst="rect">
            <a:avLst/>
          </a:prstGeom>
        </p:spPr>
      </p:pic>
      <p:sp>
        <p:nvSpPr>
          <p:cNvPr id="17435" name="Step 5 title"/>
          <p:cNvSpPr txBox="1"/>
          <p:nvPr/>
        </p:nvSpPr>
        <p:spPr>
          <a:xfrm>
            <a:off x="5074920" y="4306824"/>
            <a:ext cx="1828800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buNone/>
            </a:pPr>
            <a:r>
              <a:rPr sz="1200" b="1" i="0" lang="en-IN">
                <a:solidFill>
                  <a:srgbClr val="1F497D"/>
                </a:solidFill>
                <a:latin typeface="Arial"/>
              </a:rPr>
              <a:t>5  Output</a:t>
            </a:r>
          </a:p>
        </p:txBody>
      </p:sp>
      <p:sp>
        <p:nvSpPr>
          <p:cNvPr id="17436" name="Step 5 text"/>
          <p:cNvSpPr txBox="1"/>
          <p:nvPr/>
        </p:nvSpPr>
        <p:spPr>
          <a:xfrm>
            <a:off x="6858000" y="4306824"/>
            <a:ext cx="4892040" cy="512064"/>
          </a:xfrm>
          <a:prstGeom prst="rect">
            <a:avLst/>
          </a:prstGeom>
          <a:noFill/>
        </p:spPr>
        <p:txBody>
          <a:bodyPr wrap="square" lIns="36576" tIns="18288" rIns="54864" bIns="18288" anchor="ctr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1050" b="0" i="0" lang="en-IN">
                <a:solidFill>
                  <a:srgbClr val="222222"/>
                </a:solidFill>
                <a:latin typeface="Arial"/>
              </a:rPr>
              <a:t>Routes on the map, per-van table, convergence curve, benchmark and A-to-B shortest path.</a:t>
            </a:r>
          </a:p>
        </p:txBody>
      </p:sp>
      <p:sp>
        <p:nvSpPr>
          <p:cNvPr id="17437" name="Methodology bullets"/>
          <p:cNvSpPr txBox="1"/>
          <p:nvPr/>
        </p:nvSpPr>
        <p:spPr>
          <a:xfrm>
            <a:off x="4572000" y="4919472"/>
            <a:ext cx="7223760" cy="1371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100" b="1" i="0" lang="en-IN">
                <a:solidFill>
                  <a:srgbClr val="222222"/>
                </a:solidFill>
                <a:latin typeface="Arial"/>
              </a:rPr>
              <a:t>Encoding: </a:t>
            </a:r>
            <a:r>
              <a:rPr sz="1100" b="0" i="0" lang="en-IN">
                <a:solidFill>
                  <a:srgbClr val="222222"/>
                </a:solidFill>
                <a:latin typeface="Arial"/>
              </a:rPr>
              <a:t>each particle is a vector of random keys. Sorting the keys gives the visiting order, which is cut into vans by capacity.</a:t>
            </a:r>
          </a:p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100" b="1" i="0" lang="en-IN">
                <a:solidFill>
                  <a:srgbClr val="222222"/>
                </a:solidFill>
                <a:latin typeface="Arial"/>
              </a:rPr>
              <a:t>Update rule: </a:t>
            </a:r>
            <a:r>
              <a:rPr sz="1100" b="0" i="0" lang="en-IN">
                <a:solidFill>
                  <a:srgbClr val="222222"/>
                </a:solidFill>
                <a:latin typeface="Arial"/>
              </a:rPr>
              <a:t>no velocity. Each step samples a new position around a point between the particle's best and the swarm's best; the jump size shrinks over time, exploring first and refining later.</a:t>
            </a:r>
          </a:p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100" b="1" i="0" lang="en-IN">
                <a:solidFill>
                  <a:srgbClr val="222222"/>
                </a:solidFill>
                <a:latin typeface="Arial"/>
              </a:rPr>
              <a:t>Fitness: </a:t>
            </a:r>
            <a:r>
              <a:rPr sz="1100" b="0" i="0" lang="en-IN">
                <a:solidFill>
                  <a:srgbClr val="222222"/>
                </a:solidFill>
                <a:latin typeface="Arial"/>
              </a:rPr>
              <a:t>weighted time, distance and congestion, plus penalties for overload and lateness. 40 particles, 800 iterations; a default plan takes about a second on a laptop.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Feasibility text"/>
          <p:cNvSpPr txBox="1"/>
          <p:nvPr/>
        </p:nvSpPr>
        <p:spPr>
          <a:xfrm>
            <a:off x="384048" y="1097280"/>
            <a:ext cx="4206240" cy="4206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 marL="274320" indent="-274320">
              <a:spcBef>
                <a:spcPts val="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sz="1400" b="1" i="0" u="sng" lang="en-IN">
                <a:solidFill>
                  <a:srgbClr val="1F497D"/>
                </a:solidFill>
                <a:latin typeface="Arial"/>
              </a:rPr>
              <a:t>Analysis of the feasibility of the idea</a:t>
            </a:r>
          </a:p>
          <a:p>
            <a:pPr algn="l" marL="155448" indent="-155448">
              <a:spcAft>
                <a:spcPts val="600"/>
              </a:spcAft>
              <a:buFont typeface="Arial"/>
              <a:buChar char="•"/>
            </a:pPr>
            <a:r>
              <a:rPr sz="1250" b="1" i="0" lang="en-IN">
                <a:solidFill>
                  <a:srgbClr val="222222"/>
                </a:solidFill>
                <a:latin typeface="Arial"/>
              </a:rPr>
              <a:t>Already built and running: </a:t>
            </a:r>
            <a:r>
              <a:rPr sz="1250" b="0" i="0" lang="en-IN">
                <a:solidFill>
                  <a:srgbClr val="222222"/>
                </a:solidFill>
                <a:latin typeface="Arial"/>
              </a:rPr>
              <a:t>public website, source on GitHub, one Docker command to start it.</a:t>
            </a:r>
          </a:p>
          <a:p>
            <a:pPr algn="l" marL="155448" indent="-155448">
              <a:spcAft>
                <a:spcPts val="600"/>
              </a:spcAft>
              <a:buFont typeface="Arial"/>
              <a:buChar char="•"/>
            </a:pPr>
            <a:r>
              <a:rPr sz="1250" b="1" i="0" lang="en-IN">
                <a:solidFill>
                  <a:srgbClr val="222222"/>
                </a:solidFill>
                <a:latin typeface="Arial"/>
              </a:rPr>
              <a:t>Ordinary hardware: </a:t>
            </a:r>
            <a:r>
              <a:rPr sz="1250" b="0" i="0" lang="en-IN">
                <a:solidFill>
                  <a:srgbClr val="222222"/>
                </a:solidFill>
                <a:latin typeface="Arial"/>
              </a:rPr>
              <a:t>a default plan takes about a second on a laptop. No quantum device.</a:t>
            </a:r>
          </a:p>
          <a:p>
            <a:pPr algn="l" marL="155448" indent="-155448">
              <a:spcAft>
                <a:spcPts val="600"/>
              </a:spcAft>
              <a:buFont typeface="Arial"/>
              <a:buChar char="•"/>
            </a:pPr>
            <a:r>
              <a:rPr sz="1250" b="1" i="0" lang="en-IN">
                <a:solidFill>
                  <a:srgbClr val="222222"/>
                </a:solidFill>
                <a:latin typeface="Arial"/>
              </a:rPr>
              <a:t>Free, open data: </a:t>
            </a:r>
            <a:r>
              <a:rPr sz="1250" b="0" i="0" lang="en-IN">
                <a:solidFill>
                  <a:srgbClr val="222222"/>
                </a:solidFill>
                <a:latin typeface="Arial"/>
              </a:rPr>
              <a:t>OpenStreetMap roads and TomTom's free tier (2,500 requests a day).</a:t>
            </a:r>
          </a:p>
          <a:p>
            <a:pPr algn="l" marL="155448" indent="-155448">
              <a:spcAft>
                <a:spcPts val="600"/>
              </a:spcAft>
              <a:buFont typeface="Arial"/>
              <a:buChar char="•"/>
            </a:pPr>
            <a:r>
              <a:rPr sz="1250" b="1" i="0" lang="en-IN">
                <a:solidFill>
                  <a:srgbClr val="222222"/>
                </a:solidFill>
                <a:latin typeface="Arial"/>
              </a:rPr>
              <a:t>Indian cities included: </a:t>
            </a:r>
            <a:r>
              <a:rPr sz="1250" b="0" i="0" lang="en-IN">
                <a:solidFill>
                  <a:srgbClr val="222222"/>
                </a:solidFill>
                <a:latin typeface="Arial"/>
              </a:rPr>
              <a:t>Delhi (Connaught Place), Noida (Sector 18), Bengaluru (MG Road) and Mumbai (CST/Fort) load at once and work offline.</a:t>
            </a:r>
          </a:p>
          <a:p>
            <a:pPr algn="l" marL="155448" indent="-155448">
              <a:spcAft>
                <a:spcPts val="600"/>
              </a:spcAft>
              <a:buFont typeface="Arial"/>
              <a:buChar char="•"/>
            </a:pPr>
            <a:r>
              <a:rPr sz="1250" b="1" i="0" lang="en-IN">
                <a:solidFill>
                  <a:srgbClr val="222222"/>
                </a:solidFill>
                <a:latin typeface="Arial"/>
              </a:rPr>
              <a:t>Checked in the open: </a:t>
            </a:r>
            <a:r>
              <a:rPr sz="1250" b="0" i="0" lang="en-IN">
                <a:solidFill>
                  <a:srgbClr val="222222"/>
                </a:solidFill>
                <a:latin typeface="Arial"/>
              </a:rPr>
              <a:t>431 automated tests, and every claim traces back to a result file.</a:t>
            </a:r>
          </a:p>
          <a:p>
            <a:pPr algn="l" marL="155448" indent="-155448">
              <a:spcAft>
                <a:spcPts val="600"/>
              </a:spcAft>
              <a:buFont typeface="Arial"/>
              <a:buChar char="•"/>
            </a:pPr>
            <a:r>
              <a:rPr sz="1250" b="1" i="0" lang="en-IN">
                <a:solidFill>
                  <a:srgbClr val="222222"/>
                </a:solidFill>
                <a:latin typeface="Arial"/>
              </a:rPr>
              <a:t>Portable: </a:t>
            </a:r>
            <a:r>
              <a:rPr sz="1250" b="0" i="0" lang="en-IN">
                <a:solidFill>
                  <a:srgbClr val="222222"/>
                </a:solidFill>
                <a:latin typeface="Arial"/>
              </a:rPr>
              <a:t>the same Docker image runs on a laptop, a server or a free cloud host.</a:t>
            </a:r>
          </a:p>
        </p:txBody>
      </p:sp>
      <p:graphicFrame>
        <p:nvGraphicFramePr>
          <p:cNvPr id="17411" name="Risk table"/>
          <p:cNvGraphicFramePr>
            <a:graphicFrameLocks noGrp="1"/>
          </p:cNvGraphicFramePr>
          <p:nvPr/>
        </p:nvGraphicFramePr>
        <p:xfrm>
          <a:off x="4800600" y="1188720"/>
          <a:ext cx="6995160" cy="45811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4640"/>
                <a:gridCol w="4160520"/>
              </a:tblGrid>
              <a:tr h="411480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 i="0" u="sng" lang="en-IN">
                          <a:solidFill>
                            <a:srgbClr val="1F497D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70C0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 i="0" u="sng" lang="en-IN">
                          <a:solidFill>
                            <a:srgbClr val="1F497D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70C0"/>
                      </a:solidFill>
                    </a:lnB>
                    <a:solidFill>
                      <a:srgbClr val="DCE6F2"/>
                    </a:solidFill>
                  </a:tcPr>
                </a:tc>
              </a:tr>
              <a:tr h="694944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Routing is NP-hard, so exact methods stop scaling.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Metaheuristics with a warm start and a polish, checked against exact optima (small problems) and proven optima (standard instances).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  <a:tr h="694944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Local search narrows the gap between metaheuristics.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We show raw and polished results side by side, keep QPSO as the default, and offer a route search option for the best plans.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  <a:tr h="694944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Live traffic needs internet, a key and has a daily quota.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Recorded replays, reuse of a recent reading, and a badge that always says LIVE, RECORDED or SIMULATED.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  <a:tr h="694944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Sensors do not cover every road (541 of 1,223 measured on MG Road).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Unmeasured roads are estimated from measured neighbours, and the badge reports how many were measured.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  <a:tr h="694944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A road closes and a stop becomes unreachable.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The road is removed for every solver, and the app names the cut-off stops instead of drawing a nonsense route.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  <a:tr h="694944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Free hosting is slow (about a tenth of a CPU).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The public demo is limited to the ready-made cities and says so. Docker or a laptop runs at full speed.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Impact heading"/>
          <p:cNvSpPr txBox="1"/>
          <p:nvPr/>
        </p:nvSpPr>
        <p:spPr>
          <a:xfrm>
            <a:off x="384048" y="1097280"/>
            <a:ext cx="59436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 marL="274320" indent="-274320">
              <a:spcBef>
                <a:spcPts val="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sz="1400" b="1" i="0" u="sng" lang="en-IN">
                <a:solidFill>
                  <a:srgbClr val="1F497D"/>
                </a:solidFill>
                <a:latin typeface="Arial"/>
              </a:rPr>
              <a:t>Potential impact on the target audience</a:t>
            </a:r>
          </a:p>
        </p:txBody>
      </p:sp>
      <p:pic>
        <p:nvPicPr>
          <p:cNvPr id="17411" name="Icon truck" descr="tru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19"/>
            <a:ext cx="384048" cy="384048"/>
          </a:xfrm>
          <a:prstGeom prst="rect">
            <a:avLst/>
          </a:prstGeom>
        </p:spPr>
      </p:pic>
      <p:sp>
        <p:nvSpPr>
          <p:cNvPr id="17412" name="Audience 1"/>
          <p:cNvSpPr txBox="1"/>
          <p:nvPr/>
        </p:nvSpPr>
        <p:spPr>
          <a:xfrm>
            <a:off x="960120" y="1536192"/>
            <a:ext cx="5349240" cy="6583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1250" b="1" i="0" lang="en-IN">
                <a:solidFill>
                  <a:srgbClr val="1F497D"/>
                </a:solidFill>
                <a:latin typeface="Arial"/>
              </a:rPr>
              <a:t>Delivery and logistics fleets</a:t>
            </a:r>
          </a:p>
          <a:p>
            <a:pPr algn="l">
              <a:lnSpc>
                <a:spcPct val="98000"/>
              </a:lnSpc>
              <a:buNone/>
            </a:pPr>
            <a:r>
              <a:rPr sz="1150" b="0" i="0" lang="en-IN">
                <a:solidFill>
                  <a:srgbClr val="222222"/>
                </a:solidFill>
                <a:latin typeface="Arial"/>
              </a:rPr>
              <a:t>Plans that see traffic and van capacity, and an answer to "what if this road closes?" in seconds.</a:t>
            </a:r>
          </a:p>
        </p:txBody>
      </p:sp>
      <p:pic>
        <p:nvPicPr>
          <p:cNvPr id="17413" name="Icon building-2" descr="building-2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359152"/>
            <a:ext cx="384048" cy="384048"/>
          </a:xfrm>
          <a:prstGeom prst="rect">
            <a:avLst/>
          </a:prstGeom>
        </p:spPr>
      </p:pic>
      <p:sp>
        <p:nvSpPr>
          <p:cNvPr id="17414" name="Audience 2"/>
          <p:cNvSpPr txBox="1"/>
          <p:nvPr/>
        </p:nvSpPr>
        <p:spPr>
          <a:xfrm>
            <a:off x="960120" y="2249424"/>
            <a:ext cx="5349240" cy="6583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1250" b="1" i="0" lang="en-IN">
                <a:solidFill>
                  <a:srgbClr val="1F497D"/>
                </a:solidFill>
                <a:latin typeface="Arial"/>
              </a:rPr>
              <a:t>City traffic and transport authorities</a:t>
            </a:r>
          </a:p>
          <a:p>
            <a:pPr algn="l">
              <a:lnSpc>
                <a:spcPct val="98000"/>
              </a:lnSpc>
              <a:buNone/>
            </a:pPr>
            <a:r>
              <a:rPr sz="1150" b="0" i="0" lang="en-IN">
                <a:solidFill>
                  <a:srgbClr val="222222"/>
                </a:solidFill>
                <a:latin typeface="Arial"/>
              </a:rPr>
              <a:t>A way to test closures and congestion on a real road network before they happen.</a:t>
            </a:r>
          </a:p>
        </p:txBody>
      </p:sp>
      <p:pic>
        <p:nvPicPr>
          <p:cNvPr id="17415" name="Icon graduation-cap" descr="graduation-cap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072384"/>
            <a:ext cx="384048" cy="384048"/>
          </a:xfrm>
          <a:prstGeom prst="rect">
            <a:avLst/>
          </a:prstGeom>
        </p:spPr>
      </p:pic>
      <p:sp>
        <p:nvSpPr>
          <p:cNvPr id="17416" name="Audience 3"/>
          <p:cNvSpPr txBox="1"/>
          <p:nvPr/>
        </p:nvSpPr>
        <p:spPr>
          <a:xfrm>
            <a:off x="960120" y="2962656"/>
            <a:ext cx="5349240" cy="6583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1250" b="1" i="0" lang="en-IN">
                <a:solidFill>
                  <a:srgbClr val="1F497D"/>
                </a:solidFill>
                <a:latin typeface="Arial"/>
              </a:rPr>
              <a:t>Researchers and students</a:t>
            </a:r>
          </a:p>
          <a:p>
            <a:pPr algn="l">
              <a:lnSpc>
                <a:spcPct val="98000"/>
              </a:lnSpc>
              <a:buNone/>
            </a:pPr>
            <a:r>
              <a:rPr sz="1150" b="0" i="0" lang="en-IN">
                <a:solidFill>
                  <a:srgbClr val="222222"/>
                </a:solidFill>
                <a:latin typeface="Arial"/>
              </a:rPr>
              <a:t>A reproducible test bench for quantum-inspired optimization, with the mathematics written out.</a:t>
            </a:r>
          </a:p>
        </p:txBody>
      </p:sp>
      <p:sp>
        <p:nvSpPr>
          <p:cNvPr id="17417" name="Numbers heading"/>
          <p:cNvSpPr txBox="1"/>
          <p:nvPr/>
        </p:nvSpPr>
        <p:spPr>
          <a:xfrm>
            <a:off x="6583680" y="1097280"/>
            <a:ext cx="521208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300" b="1" i="0" lang="en-IN">
                <a:solidFill>
                  <a:srgbClr val="1F497D"/>
                </a:solidFill>
                <a:latin typeface="Arial"/>
              </a:rPr>
              <a:t>Why traffic-aware planning matters (measured in the prototype)</a:t>
            </a:r>
          </a:p>
        </p:txBody>
      </p:sp>
      <p:sp>
        <p:nvSpPr>
          <p:cNvPr id="17418" name="Number 1"/>
          <p:cNvSpPr txBox="1"/>
          <p:nvPr/>
        </p:nvSpPr>
        <p:spPr>
          <a:xfrm>
            <a:off x="6583680" y="1508760"/>
            <a:ext cx="1965960" cy="53035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1250" b="1" i="0" lang="en-IN">
                <a:solidFill>
                  <a:srgbClr val="0070C0"/>
                </a:solidFill>
                <a:latin typeface="Arial"/>
              </a:rPr>
              <a:t>72 to 103% longer</a:t>
            </a:r>
          </a:p>
        </p:txBody>
      </p:sp>
      <p:sp>
        <p:nvSpPr>
          <p:cNvPr id="17419" name="Number 1 text"/>
          <p:cNvSpPr txBox="1"/>
          <p:nvPr/>
        </p:nvSpPr>
        <p:spPr>
          <a:xfrm>
            <a:off x="8549640" y="1508760"/>
            <a:ext cx="324612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1000" b="0" i="0" lang="en-IN">
                <a:solidFill>
                  <a:srgbClr val="222222"/>
                </a:solidFill>
                <a:latin typeface="Arial"/>
              </a:rPr>
              <a:t>The same 15-stop job under recorded evening traffic on MG Road, against free flow (12 random draws, mean 93%).</a:t>
            </a:r>
          </a:p>
        </p:txBody>
      </p:sp>
      <p:sp>
        <p:nvSpPr>
          <p:cNvPr id="17420" name="Number 2"/>
          <p:cNvSpPr txBox="1"/>
          <p:nvPr/>
        </p:nvSpPr>
        <p:spPr>
          <a:xfrm>
            <a:off x="6583680" y="2057400"/>
            <a:ext cx="1965960" cy="53035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1250" b="1" i="0" lang="en-IN">
                <a:solidFill>
                  <a:srgbClr val="0070C0"/>
                </a:solidFill>
                <a:latin typeface="Arial"/>
              </a:rPr>
              <a:t>32 to 60% longer</a:t>
            </a:r>
          </a:p>
        </p:txBody>
      </p:sp>
      <p:sp>
        <p:nvSpPr>
          <p:cNvPr id="17421" name="Number 2 text"/>
          <p:cNvSpPr txBox="1"/>
          <p:nvPr/>
        </p:nvSpPr>
        <p:spPr>
          <a:xfrm>
            <a:off x="8549640" y="2057400"/>
            <a:ext cx="324612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1000" b="0" i="0" lang="en-IN">
                <a:solidFill>
                  <a:srgbClr val="222222"/>
                </a:solidFill>
                <a:latin typeface="Arial"/>
              </a:rPr>
              <a:t>The same job under simulated rush hour on a synthetic map (12 random draws, mean 51%).</a:t>
            </a:r>
          </a:p>
        </p:txBody>
      </p:sp>
      <p:sp>
        <p:nvSpPr>
          <p:cNvPr id="17422" name="Number 3"/>
          <p:cNvSpPr txBox="1"/>
          <p:nvPr/>
        </p:nvSpPr>
        <p:spPr>
          <a:xfrm>
            <a:off x="6583680" y="2606039"/>
            <a:ext cx="1965960" cy="53035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1250" b="1" i="0" lang="en-IN">
                <a:solidFill>
                  <a:srgbClr val="0070C0"/>
                </a:solidFill>
                <a:latin typeface="Arial"/>
              </a:rPr>
              <a:t>6 to 7% fewer km</a:t>
            </a:r>
          </a:p>
        </p:txBody>
      </p:sp>
      <p:sp>
        <p:nvSpPr>
          <p:cNvPr id="17423" name="Number 3 text"/>
          <p:cNvSpPr txBox="1"/>
          <p:nvPr/>
        </p:nvSpPr>
        <p:spPr>
          <a:xfrm>
            <a:off x="8549640" y="2606039"/>
            <a:ext cx="324612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1000" b="0" i="0" lang="en-IN">
                <a:solidFill>
                  <a:srgbClr val="222222"/>
                </a:solidFill>
                <a:latin typeface="Arial"/>
              </a:rPr>
              <a:t>Asking only for the fewest kilometres saves that distance but adds 13 to 15% driving time and about 60% more congestion delay (30 and 60 stops).</a:t>
            </a:r>
          </a:p>
        </p:txBody>
      </p:sp>
      <p:sp>
        <p:nvSpPr>
          <p:cNvPr id="17424" name="Number 4"/>
          <p:cNvSpPr txBox="1"/>
          <p:nvPr/>
        </p:nvSpPr>
        <p:spPr>
          <a:xfrm>
            <a:off x="6583680" y="3154679"/>
            <a:ext cx="1965960" cy="53035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1250" b="1" i="0" lang="en-IN">
                <a:solidFill>
                  <a:srgbClr val="0070C0"/>
                </a:solidFill>
                <a:latin typeface="Arial"/>
              </a:rPr>
              <a:t>A third of stops late</a:t>
            </a:r>
          </a:p>
        </p:txBody>
      </p:sp>
      <p:sp>
        <p:nvSpPr>
          <p:cNvPr id="17425" name="Number 4 text"/>
          <p:cNvSpPr txBox="1"/>
          <p:nvPr/>
        </p:nvSpPr>
        <p:spPr>
          <a:xfrm>
            <a:off x="8549640" y="3154679"/>
            <a:ext cx="324612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1000" b="0" i="0" lang="en-IN">
                <a:solidFill>
                  <a:srgbClr val="222222"/>
                </a:solidFill>
                <a:latin typeface="Arial"/>
              </a:rPr>
              <a:t>when time windows are ignored. Pricing lateness puts vans on time for 26 to 36% more driving.</a:t>
            </a:r>
          </a:p>
        </p:txBody>
      </p:sp>
      <p:sp>
        <p:nvSpPr>
          <p:cNvPr id="17426" name="Benefits heading"/>
          <p:cNvSpPr txBox="1"/>
          <p:nvPr/>
        </p:nvSpPr>
        <p:spPr>
          <a:xfrm>
            <a:off x="384048" y="3749039"/>
            <a:ext cx="73152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 marL="274320" indent="-274320">
              <a:spcBef>
                <a:spcPts val="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sz="1400" b="1" i="0" u="sng" lang="en-IN">
                <a:solidFill>
                  <a:srgbClr val="1F497D"/>
                </a:solidFill>
                <a:latin typeface="Arial"/>
              </a:rPr>
              <a:t>Benefits of the solution (social, economic, environmental, etc.)</a:t>
            </a:r>
          </a:p>
        </p:txBody>
      </p:sp>
      <p:pic>
        <p:nvPicPr>
          <p:cNvPr id="17427" name="Icon banknote" descr="banknot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4224528"/>
            <a:ext cx="329184" cy="329184"/>
          </a:xfrm>
          <a:prstGeom prst="rect">
            <a:avLst/>
          </a:prstGeom>
        </p:spPr>
      </p:pic>
      <p:sp>
        <p:nvSpPr>
          <p:cNvPr id="17428" name="Economic title"/>
          <p:cNvSpPr txBox="1"/>
          <p:nvPr/>
        </p:nvSpPr>
        <p:spPr>
          <a:xfrm>
            <a:off x="822960" y="420624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buNone/>
            </a:pPr>
            <a:r>
              <a:rPr sz="1300" b="1" i="0" lang="en-IN">
                <a:solidFill>
                  <a:srgbClr val="1F497D"/>
                </a:solidFill>
                <a:latin typeface="Arial"/>
              </a:rPr>
              <a:t>Economic</a:t>
            </a:r>
          </a:p>
        </p:txBody>
      </p:sp>
      <p:sp>
        <p:nvSpPr>
          <p:cNvPr id="17429" name="Economic points"/>
          <p:cNvSpPr txBox="1"/>
          <p:nvPr/>
        </p:nvSpPr>
        <p:spPr>
          <a:xfrm>
            <a:off x="411480" y="4617720"/>
            <a:ext cx="2395728" cy="11887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 marL="128016" indent="-128016">
              <a:spcAft>
                <a:spcPts val="300"/>
              </a:spcAft>
              <a:buFont typeface="Arial"/>
              <a:buChar char="•"/>
            </a:pPr>
            <a:r>
              <a:rPr sz="1100" b="0" i="0" lang="en-IN">
                <a:solidFill>
                  <a:srgbClr val="222222"/>
                </a:solidFill>
                <a:latin typeface="Arial"/>
              </a:rPr>
              <a:t>Fewer van-minutes and kilometres</a:t>
            </a:r>
          </a:p>
          <a:p>
            <a:pPr algn="l" marL="128016" indent="-128016">
              <a:spcAft>
                <a:spcPts val="300"/>
              </a:spcAft>
              <a:buFont typeface="Arial"/>
              <a:buChar char="•"/>
            </a:pPr>
            <a:r>
              <a:rPr sz="1100" b="0" i="0" lang="en-IN">
                <a:solidFill>
                  <a:srgbClr val="222222"/>
                </a:solidFill>
                <a:latin typeface="Arial"/>
              </a:rPr>
              <a:t>Capacity-checked plans</a:t>
            </a:r>
          </a:p>
          <a:p>
            <a:pPr algn="l" marL="128016" indent="-128016">
              <a:spcAft>
                <a:spcPts val="300"/>
              </a:spcAft>
              <a:buFont typeface="Arial"/>
              <a:buChar char="•"/>
            </a:pPr>
            <a:r>
              <a:rPr sz="1100" b="0" i="0" lang="en-IN">
                <a:solidFill>
                  <a:srgbClr val="222222"/>
                </a:solidFill>
                <a:latin typeface="Arial"/>
              </a:rPr>
              <a:t>Every choice priced in real minutes and km</a:t>
            </a:r>
          </a:p>
        </p:txBody>
      </p:sp>
      <p:pic>
        <p:nvPicPr>
          <p:cNvPr id="17430" name="Icon leaf" descr="leaf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6080" y="4224528"/>
            <a:ext cx="329184" cy="329184"/>
          </a:xfrm>
          <a:prstGeom prst="rect">
            <a:avLst/>
          </a:prstGeom>
        </p:spPr>
      </p:pic>
      <p:sp>
        <p:nvSpPr>
          <p:cNvPr id="17431" name="Environmental title"/>
          <p:cNvSpPr txBox="1"/>
          <p:nvPr/>
        </p:nvSpPr>
        <p:spPr>
          <a:xfrm>
            <a:off x="3310128" y="420624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buNone/>
            </a:pPr>
            <a:r>
              <a:rPr sz="1300" b="1" i="0" lang="en-IN">
                <a:solidFill>
                  <a:srgbClr val="1F497D"/>
                </a:solidFill>
                <a:latin typeface="Arial"/>
              </a:rPr>
              <a:t>Environmental</a:t>
            </a:r>
          </a:p>
        </p:txBody>
      </p:sp>
      <p:sp>
        <p:nvSpPr>
          <p:cNvPr id="17432" name="Environmental points"/>
          <p:cNvSpPr txBox="1"/>
          <p:nvPr/>
        </p:nvSpPr>
        <p:spPr>
          <a:xfrm>
            <a:off x="2898648" y="4617720"/>
            <a:ext cx="2395728" cy="11887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 marL="128016" indent="-128016">
              <a:spcAft>
                <a:spcPts val="300"/>
              </a:spcAft>
              <a:buFont typeface="Arial"/>
              <a:buChar char="•"/>
            </a:pPr>
            <a:r>
              <a:rPr sz="1100" b="0" i="0" lang="en-IN">
                <a:solidFill>
                  <a:srgbClr val="222222"/>
                </a:solidFill>
                <a:latin typeface="Arial"/>
              </a:rPr>
              <a:t>Less driving, less idling in jams</a:t>
            </a:r>
          </a:p>
          <a:p>
            <a:pPr algn="l" marL="128016" indent="-128016">
              <a:spcAft>
                <a:spcPts val="300"/>
              </a:spcAft>
              <a:buFont typeface="Arial"/>
              <a:buChar char="•"/>
            </a:pPr>
            <a:r>
              <a:rPr sz="1100" b="0" i="0" lang="en-IN">
                <a:solidFill>
                  <a:srgbClr val="222222"/>
                </a:solidFill>
                <a:latin typeface="Arial"/>
              </a:rPr>
              <a:t>Congestion delay is reported for every plan</a:t>
            </a:r>
          </a:p>
        </p:txBody>
      </p:sp>
      <p:pic>
        <p:nvPicPr>
          <p:cNvPr id="17433" name="Icon users" descr="users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3248" y="4224528"/>
            <a:ext cx="329184" cy="329184"/>
          </a:xfrm>
          <a:prstGeom prst="rect">
            <a:avLst/>
          </a:prstGeom>
        </p:spPr>
      </p:pic>
      <p:sp>
        <p:nvSpPr>
          <p:cNvPr id="17434" name="Social title"/>
          <p:cNvSpPr txBox="1"/>
          <p:nvPr/>
        </p:nvSpPr>
        <p:spPr>
          <a:xfrm>
            <a:off x="5797296" y="420624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buNone/>
            </a:pPr>
            <a:r>
              <a:rPr sz="1300" b="1" i="0" lang="en-IN">
                <a:solidFill>
                  <a:srgbClr val="1F497D"/>
                </a:solidFill>
                <a:latin typeface="Arial"/>
              </a:rPr>
              <a:t>Social</a:t>
            </a:r>
          </a:p>
        </p:txBody>
      </p:sp>
      <p:sp>
        <p:nvSpPr>
          <p:cNvPr id="17435" name="Social points"/>
          <p:cNvSpPr txBox="1"/>
          <p:nvPr/>
        </p:nvSpPr>
        <p:spPr>
          <a:xfrm>
            <a:off x="5385816" y="4617720"/>
            <a:ext cx="2395728" cy="11887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 marL="128016" indent="-128016">
              <a:spcAft>
                <a:spcPts val="300"/>
              </a:spcAft>
              <a:buFont typeface="Arial"/>
              <a:buChar char="•"/>
            </a:pPr>
            <a:r>
              <a:rPr sz="1100" b="0" i="0" lang="en-IN">
                <a:solidFill>
                  <a:srgbClr val="222222"/>
                </a:solidFill>
                <a:latin typeface="Arial"/>
              </a:rPr>
              <a:t>More reliable delivery times</a:t>
            </a:r>
          </a:p>
          <a:p>
            <a:pPr algn="l" marL="128016" indent="-128016">
              <a:spcAft>
                <a:spcPts val="300"/>
              </a:spcAft>
              <a:buFont typeface="Arial"/>
              <a:buChar char="•"/>
            </a:pPr>
            <a:r>
              <a:rPr sz="1100" b="0" i="0" lang="en-IN">
                <a:solidFill>
                  <a:srgbClr val="222222"/>
                </a:solidFill>
                <a:latin typeface="Arial"/>
              </a:rPr>
              <a:t>Quicker, better-informed reaction to closures and incidents</a:t>
            </a:r>
          </a:p>
        </p:txBody>
      </p:sp>
      <p:sp>
        <p:nvSpPr>
          <p:cNvPr id="17436" name="Next steps"/>
          <p:cNvSpPr txBox="1"/>
          <p:nvPr/>
        </p:nvSpPr>
        <p:spPr>
          <a:xfrm>
            <a:off x="384048" y="5833872"/>
            <a:ext cx="7406640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buNone/>
            </a:pPr>
            <a:r>
              <a:rPr sz="1100" b="1" i="0" lang="en-IN">
                <a:solidFill>
                  <a:srgbClr val="595959"/>
                </a:solidFill>
                <a:latin typeface="Arial"/>
              </a:rPr>
              <a:t>Next: </a:t>
            </a:r>
            <a:r>
              <a:rPr sz="1100" b="0" i="0" lang="en-IN">
                <a:solidFill>
                  <a:srgbClr val="595959"/>
                </a:solidFill>
                <a:latin typeface="Arial"/>
              </a:rPr>
              <a:t>custom road-network upload, hard time windows, mixed fleets, live incident feeds.</a:t>
            </a:r>
          </a:p>
        </p:txBody>
      </p:sp>
      <p:pic>
        <p:nvPicPr>
          <p:cNvPr id="17437" name="Screenshot closure" descr="Screenshot: one road closed on the MG Road map, shown as a red cross, with a banner reporting the change in the delivery plan against all roads ope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3794760"/>
            <a:ext cx="3931920" cy="2018386"/>
          </a:xfrm>
          <a:prstGeom prst="rect">
            <a:avLst/>
          </a:prstGeom>
        </p:spPr>
      </p:pic>
      <p:sp>
        <p:nvSpPr>
          <p:cNvPr id="17438" name="Closure caption"/>
          <p:cNvSpPr txBox="1"/>
          <p:nvPr/>
        </p:nvSpPr>
        <p:spPr>
          <a:xfrm>
            <a:off x="7863840" y="5840577"/>
            <a:ext cx="393192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950" b="0" i="0" lang="en-IN">
                <a:solidFill>
                  <a:srgbClr val="595959"/>
                </a:solidFill>
                <a:latin typeface="Arial"/>
              </a:rPr>
              <a:t>One road closed on the MG Road plan: 57.9 to 65.0 min (+12.3%), compared with the same plan with every road open.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search heading"/>
          <p:cNvSpPr txBox="1"/>
          <p:nvPr/>
        </p:nvSpPr>
        <p:spPr>
          <a:xfrm>
            <a:off x="384048" y="1005840"/>
            <a:ext cx="731520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 marL="274320" indent="-274320">
              <a:spcBef>
                <a:spcPts val="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sz="1400" b="1" i="0" u="sng" lang="en-IN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</a:p>
        </p:txBody>
      </p:sp>
      <p:pic>
        <p:nvPicPr>
          <p:cNvPr id="17411" name="Icon link" descr="lin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81328"/>
            <a:ext cx="274320" cy="274320"/>
          </a:xfrm>
          <a:prstGeom prst="rect">
            <a:avLst/>
          </a:prstGeom>
        </p:spPr>
      </p:pic>
      <p:sp>
        <p:nvSpPr>
          <p:cNvPr id="17412" name="Link Live prototype"/>
          <p:cNvSpPr txBox="1"/>
          <p:nvPr/>
        </p:nvSpPr>
        <p:spPr>
          <a:xfrm>
            <a:off x="740664" y="1408176"/>
            <a:ext cx="4059935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050" b="1" i="0" lang="en-IN">
                <a:solidFill>
                  <a:srgbClr val="1F497D"/>
                </a:solidFill>
                <a:latin typeface="Arial"/>
              </a:rPr>
              <a:t>Live prototype</a:t>
            </a:r>
          </a:p>
          <a:p>
            <a:pPr algn="l">
              <a:buNone/>
            </a:pPr>
            <a:r>
              <a:rPr sz="1050" b="0" i="0" u="sng" lang="en-IN">
                <a:solidFill>
                  <a:srgbClr val="0070C0"/>
                </a:solidFill>
                <a:latin typeface="Arial"/>
                <a:hlinkClick r:id="rId5"/>
              </a:rPr>
              <a:t>https://quantum-inspired-route-optimizer.onrender.com</a:t>
            </a:r>
          </a:p>
        </p:txBody>
      </p:sp>
      <p:pic>
        <p:nvPicPr>
          <p:cNvPr id="17413" name="Icon server" descr="server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481328"/>
            <a:ext cx="274320" cy="274320"/>
          </a:xfrm>
          <a:prstGeom prst="rect">
            <a:avLst/>
          </a:prstGeom>
        </p:spPr>
      </p:pic>
      <p:sp>
        <p:nvSpPr>
          <p:cNvPr id="17414" name="Link Source code and docs"/>
          <p:cNvSpPr txBox="1"/>
          <p:nvPr/>
        </p:nvSpPr>
        <p:spPr>
          <a:xfrm>
            <a:off x="5221224" y="1408176"/>
            <a:ext cx="3054096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050" b="1" i="0" lang="en-IN">
                <a:solidFill>
                  <a:srgbClr val="1F497D"/>
                </a:solidFill>
                <a:latin typeface="Arial"/>
              </a:rPr>
              <a:t>Source code and docs</a:t>
            </a:r>
          </a:p>
          <a:p>
            <a:pPr algn="l">
              <a:buNone/>
            </a:pPr>
            <a:r>
              <a:rPr sz="1050" b="0" i="0" lang="en-IN">
                <a:solidFill>
                  <a:srgbClr val="222222"/>
                </a:solidFill>
                <a:highlight>
                  <a:srgbClr val="FFFF00"/>
                </a:highlight>
                <a:latin typeface="Arial"/>
              </a:rPr>
              <a:t>[add your GitHub link]</a:t>
            </a:r>
          </a:p>
        </p:txBody>
      </p:sp>
      <p:pic>
        <p:nvPicPr>
          <p:cNvPr id="17415" name="Icon clock" descr="clock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1481328"/>
            <a:ext cx="274320" cy="274320"/>
          </a:xfrm>
          <a:prstGeom prst="rect">
            <a:avLst/>
          </a:prstGeom>
        </p:spPr>
      </p:pic>
      <p:sp>
        <p:nvSpPr>
          <p:cNvPr id="17416" name="Link Demo video"/>
          <p:cNvSpPr txBox="1"/>
          <p:nvPr/>
        </p:nvSpPr>
        <p:spPr>
          <a:xfrm>
            <a:off x="8695944" y="1408176"/>
            <a:ext cx="3054096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050" b="1" i="0" lang="en-IN">
                <a:solidFill>
                  <a:srgbClr val="1F497D"/>
                </a:solidFill>
                <a:latin typeface="Arial"/>
              </a:rPr>
              <a:t>Demo video</a:t>
            </a:r>
          </a:p>
          <a:p>
            <a:pPr algn="l">
              <a:buNone/>
            </a:pPr>
            <a:r>
              <a:rPr sz="1050" b="0" i="0" lang="en-IN">
                <a:solidFill>
                  <a:srgbClr val="222222"/>
                </a:solidFill>
                <a:highlight>
                  <a:srgbClr val="FFFF00"/>
                </a:highlight>
                <a:latin typeface="Arial"/>
              </a:rPr>
              <a:t>[add your video link]</a:t>
            </a:r>
          </a:p>
        </p:txBody>
      </p:sp>
      <p:graphicFrame>
        <p:nvGraphicFramePr>
          <p:cNvPr id="17417" name="Results table"/>
          <p:cNvGraphicFramePr>
            <a:graphicFrameLocks noGrp="1"/>
          </p:cNvGraphicFramePr>
          <p:nvPr/>
        </p:nvGraphicFramePr>
        <p:xfrm>
          <a:off x="411480" y="1965960"/>
          <a:ext cx="6903720" cy="28163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86000"/>
                <a:gridCol w="4617720"/>
              </a:tblGrid>
              <a:tr h="292608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1" i="0" lang="en-IN">
                          <a:solidFill>
                            <a:srgbClr val="1F497D"/>
                          </a:solidFill>
                          <a:latin typeface="Arial"/>
                        </a:rPr>
                        <a:t>Our experiment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70C0"/>
                      </a:solidFill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50" b="1" i="0" lang="en-IN">
                          <a:solidFill>
                            <a:srgbClr val="1F497D"/>
                          </a:solidFill>
                          <a:latin typeface="Arial"/>
                        </a:rPr>
                        <a:t>What we measured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70C0"/>
                      </a:solidFill>
                    </a:lnB>
                    <a:solidFill>
                      <a:srgbClr val="DCE6F2"/>
                    </a:solidFill>
                  </a:tcPr>
                </a:tc>
              </a:tr>
              <a:tr h="731520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QPSO vs classical PSO, 20 to 50 stops, 3 PSO parameter sets, 30 instances each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Raw output 13.6 to 28.1% cheaper. QPSO wins 21 to 30 of 30 in every setting and reaches PSO's final quality in about 1/8 of the iterations at 20 stops, 1/4 at 30 and 1/2 at 50.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  <a:tr h="585216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150 small problems (10 to 16 stops) with a computed exact optimum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Route search option: optimal on 150 of 150. Default QPSO pipeline: 1.5 to 3.6% above the optimum on average.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  <a:tr h="585216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22 standard CVRPLIB instances, 100 to 199 customers, proven optima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Route search option: 2.9% above optimal after 10 s and 1.5% after 2 min. OR-Tools after 60 s: 5.5%.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  <a:tr h="621792"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Shortest path, 4 map sizes, 50 pairs each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  <a:tc>
                  <a:txBody>
                    <a:bodyPr wrap="square" lIns="64008" tIns="36576" rIns="64008" bIns="36576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0" i="0" lang="en-IN">
                          <a:solidFill>
                            <a:srgbClr val="222222"/>
                          </a:solidFill>
                          <a:latin typeface="Arial"/>
                        </a:rPr>
                        <a:t>Dijkstra is exact in under 1 ms. QPSO, PSO and GA find the exact route on 78 to 90% of pairs on a 40-intersection map, 42 to 44% on a 300-intersection map.</a:t>
                      </a:r>
                    </a:p>
                  </a:txBody>
                  <a:tcPr marL="64008" marT="36576" marR="64008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C9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7418" name="Chart QPSO vs PSO" descr="Bar chart: percent by which QPSO's raw routes are cheaper than three classical PSO parameter sets at 20, 30 and 50 stops, between 13.6 and 28.1 percent"/>
          <p:cNvGraphicFramePr>
            <a:graphicFrameLocks noGrp="1"/>
          </p:cNvGraphicFramePr>
          <p:nvPr/>
        </p:nvGraphicFramePr>
        <p:xfrm>
          <a:off x="7543800" y="1920240"/>
          <a:ext cx="4251960" cy="269748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7419" name="Chart note"/>
          <p:cNvSpPr txBox="1"/>
          <p:nvPr/>
        </p:nvSpPr>
        <p:spPr>
          <a:xfrm>
            <a:off x="7543800" y="4617720"/>
            <a:ext cx="425196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900" b="0" i="0" lang="en-IN">
                <a:solidFill>
                  <a:srgbClr val="595959"/>
                </a:solidFill>
                <a:latin typeface="Arial"/>
              </a:rPr>
              <a:t>Mean over 30 random instances per bar. PSO sets A, B and C are three classical parameter settings. All 9 differences are significant (p at most 0.02).</a:t>
            </a:r>
          </a:p>
        </p:txBody>
      </p:sp>
      <p:sp>
        <p:nvSpPr>
          <p:cNvPr id="17420" name="Research note"/>
          <p:cNvSpPr txBox="1"/>
          <p:nvPr/>
        </p:nvSpPr>
        <p:spPr>
          <a:xfrm>
            <a:off x="411480" y="4754880"/>
            <a:ext cx="690372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900" b="0" i="0" lang="en-IN">
                <a:solidFill>
                  <a:srgbClr val="595959"/>
                </a:solidFill>
                <a:latin typeface="Arial"/>
              </a:rPr>
              <a:t>Note: on 100 to 199 customers the default QPSO pipeline averaged 10.2% above optimal, which is why the platform also offers the route search for large problems (docs/BENCHMARKS.md, Finding 14). All figures are from our own runs; setups and result files are in the repository.</a:t>
            </a:r>
          </a:p>
        </p:txBody>
      </p:sp>
      <p:sp>
        <p:nvSpPr>
          <p:cNvPr id="17421" name="References left"/>
          <p:cNvSpPr txBox="1"/>
          <p:nvPr/>
        </p:nvSpPr>
        <p:spPr>
          <a:xfrm>
            <a:off x="384048" y="5257800"/>
            <a:ext cx="5852160" cy="10515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950" b="1" i="0" lang="en-IN">
                <a:solidFill>
                  <a:srgbClr val="1F497D"/>
                </a:solidFill>
                <a:latin typeface="Arial"/>
              </a:rPr>
              <a:t>References</a:t>
            </a:r>
          </a:p>
          <a:p>
            <a:pPr algn="l">
              <a:lnSpc>
                <a:spcPct val="95000"/>
              </a:lnSpc>
              <a:buNone/>
            </a:pPr>
            <a:r>
              <a:rPr sz="850" b="0" i="0" lang="en-IN">
                <a:solidFill>
                  <a:srgbClr val="222222"/>
                </a:solidFill>
                <a:latin typeface="Arial"/>
              </a:rPr>
              <a:t>Sun, Feng, Xu (2004). Particle swarm optimization with particles having quantum behavior. IEEE CEC.</a:t>
            </a:r>
          </a:p>
          <a:p>
            <a:pPr algn="l">
              <a:lnSpc>
                <a:spcPct val="95000"/>
              </a:lnSpc>
              <a:buNone/>
            </a:pPr>
            <a:r>
              <a:rPr sz="850" b="0" i="0" lang="en-IN">
                <a:solidFill>
                  <a:srgbClr val="222222"/>
                </a:solidFill>
                <a:latin typeface="Arial"/>
              </a:rPr>
              <a:t>Kennedy, Eberhart (1995). Particle swarm optimization. IEEE ICNN.</a:t>
            </a:r>
          </a:p>
          <a:p>
            <a:pPr algn="l">
              <a:lnSpc>
                <a:spcPct val="95000"/>
              </a:lnSpc>
              <a:buNone/>
            </a:pPr>
            <a:r>
              <a:rPr sz="850" b="0" i="0" lang="en-IN">
                <a:solidFill>
                  <a:srgbClr val="222222"/>
                </a:solidFill>
                <a:latin typeface="Arial"/>
              </a:rPr>
              <a:t>Bean (1994). Genetic algorithms and random keys for sequencing and optimization. ORSA J. Computing.</a:t>
            </a:r>
          </a:p>
          <a:p>
            <a:pPr algn="l">
              <a:lnSpc>
                <a:spcPct val="95000"/>
              </a:lnSpc>
              <a:buNone/>
            </a:pPr>
            <a:r>
              <a:rPr sz="850" b="0" i="0" lang="en-IN">
                <a:solidFill>
                  <a:srgbClr val="222222"/>
                </a:solidFill>
                <a:latin typeface="Arial"/>
              </a:rPr>
              <a:t>Prins (2004). A simple and effective evolutionary algorithm for the vehicle routing problem. Comput. Oper. Res.</a:t>
            </a:r>
          </a:p>
          <a:p>
            <a:pPr algn="l">
              <a:lnSpc>
                <a:spcPct val="95000"/>
              </a:lnSpc>
              <a:buNone/>
            </a:pPr>
            <a:r>
              <a:rPr sz="850" b="0" i="0" lang="en-IN">
                <a:solidFill>
                  <a:srgbClr val="222222"/>
                </a:solidFill>
                <a:latin typeface="Arial"/>
              </a:rPr>
              <a:t>Vidal (2022). Hybrid genetic search for the CVRP: open-source implementation and SWAP* neighborhood. Comput. Oper. Res.</a:t>
            </a:r>
          </a:p>
        </p:txBody>
      </p:sp>
      <p:sp>
        <p:nvSpPr>
          <p:cNvPr id="17422" name="References right"/>
          <p:cNvSpPr txBox="1"/>
          <p:nvPr/>
        </p:nvSpPr>
        <p:spPr>
          <a:xfrm>
            <a:off x="6309360" y="5257800"/>
            <a:ext cx="5486400" cy="10515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950" b="0" i="0" lang="en-IN">
                <a:solidFill>
                  <a:srgbClr val="222222"/>
                </a:solidFill>
                <a:latin typeface="Arial"/>
              </a:rPr>
              <a:t> </a:t>
            </a:r>
          </a:p>
          <a:p>
            <a:pPr algn="l">
              <a:lnSpc>
                <a:spcPct val="95000"/>
              </a:lnSpc>
              <a:buNone/>
            </a:pPr>
            <a:r>
              <a:rPr sz="850" b="0" i="0" lang="en-IN">
                <a:solidFill>
                  <a:srgbClr val="222222"/>
                </a:solidFill>
                <a:latin typeface="Arial"/>
              </a:rPr>
              <a:t>Uchoa et al. (2017). New benchmark instances for the capacitated vehicle routing problem. EJOR.</a:t>
            </a:r>
          </a:p>
          <a:p>
            <a:pPr algn="l">
              <a:lnSpc>
                <a:spcPct val="95000"/>
              </a:lnSpc>
              <a:buNone/>
            </a:pPr>
            <a:r>
              <a:rPr sz="850" b="0" i="0" lang="en-IN">
                <a:solidFill>
                  <a:srgbClr val="222222"/>
                </a:solidFill>
                <a:latin typeface="Arial"/>
              </a:rPr>
              <a:t>Held, Karp (1962). A dynamic programming approach to sequencing problems. J. SIAM.</a:t>
            </a:r>
          </a:p>
          <a:p>
            <a:pPr algn="l">
              <a:lnSpc>
                <a:spcPct val="95000"/>
              </a:lnSpc>
              <a:buNone/>
            </a:pPr>
            <a:r>
              <a:rPr sz="850" b="0" i="0" lang="en-IN">
                <a:solidFill>
                  <a:srgbClr val="222222"/>
                </a:solidFill>
                <a:latin typeface="Arial"/>
              </a:rPr>
              <a:t>Boeing (2017). OSMnx: new methods for acquiring, constructing, analyzing, and visualizing complex street networks. Comput. Environ. Urban Syst.</a:t>
            </a:r>
          </a:p>
          <a:p>
            <a:pPr algn="l">
              <a:lnSpc>
                <a:spcPct val="95000"/>
              </a:lnSpc>
              <a:buNone/>
            </a:pPr>
            <a:r>
              <a:rPr sz="850" b="0" i="0" lang="en-IN">
                <a:solidFill>
                  <a:srgbClr val="222222"/>
                </a:solidFill>
                <a:latin typeface="Arial"/>
              </a:rPr>
              <a:t>Data and tools: OpenStreetMap (ODbL), TomTom Traffic Flow API, Google OR-Tools.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QuantumRoute: Quantum-inspired route optimizer (SIH 2026 idea presentation)</dc:title>
  <dc:subject>SIH26137 Quantum-Inspired Intelligent Traffic Route Optimization</dc:subject>
  <dc:creator/>
  <cp:keywords>QPSO, vehicle routing, traffic, OpenStreetMap, TomTom</cp:keywords>
  <dc:description/>
  <cp:lastModifiedBy/>
  <cp:revision>148</cp:revision>
  <dcterms:created xsi:type="dcterms:W3CDTF">2013-12-12T18:46:50Z</dcterms:created>
  <dcterms:modified xsi:type="dcterms:W3CDTF">2026-06-02T09:29:39Z</dcterms:modified>
  <cp:category/>
</cp:coreProperties>
</file>